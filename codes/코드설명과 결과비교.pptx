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59" r:id="rId7"/>
    <p:sldId id="265" r:id="rId8"/>
    <p:sldId id="262" r:id="rId9"/>
    <p:sldId id="263" r:id="rId10"/>
    <p:sldId id="264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4DC5E-688E-95F3-7FA2-C796066F6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554661-E78E-D716-1EC3-9A62F9468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DE892E-0A43-3509-241A-36474E872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F2B81-760E-4739-A5B8-BCB2EA2B2AA0}" type="datetimeFigureOut">
              <a:rPr lang="ko-KR" altLang="en-US" smtClean="0"/>
              <a:t>2022-11-11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9268CD-6EEC-1534-8B35-0C7FD2D0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A1B23-6C13-E810-A423-41CCD033F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2907-A4B5-4ADF-A51D-5CC86B5F51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21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8221F7-4844-3169-D7E9-8ADEFFEE9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135470-07D4-3490-9740-6D5E7197E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FD5ECB-A103-4990-5C2D-1422A9887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F2B81-760E-4739-A5B8-BCB2EA2B2AA0}" type="datetimeFigureOut">
              <a:rPr lang="ko-KR" altLang="en-US" smtClean="0"/>
              <a:t>2022-11-11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C373C1-BFA5-0A12-DE5E-7CEB1DE67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40877A-DA22-F56B-9E95-131E804DD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2907-A4B5-4ADF-A51D-5CC86B5F51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645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5E1BE1-F2E4-7F9C-6FE9-FCA21AE98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FD4D7E-7F97-936C-E0B2-4A2AA915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279478-79CC-3B25-7CA4-5A4B25F25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F2B81-760E-4739-A5B8-BCB2EA2B2AA0}" type="datetimeFigureOut">
              <a:rPr lang="ko-KR" altLang="en-US" smtClean="0"/>
              <a:t>2022-11-11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1932AD-1E26-D7E9-FC8A-CF2E271DA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923B5D-7D4D-80D9-4040-101AB7BAB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2907-A4B5-4ADF-A51D-5CC86B5F51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850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0A85F4-6589-25AF-7E4B-4CDD20EC7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F32297-EAC7-8D4A-D0EC-69589F881D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ADA055-7B8E-7593-07B3-4DB47B416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4507AF-3A37-B860-F829-F1A528394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F2B81-760E-4739-A5B8-BCB2EA2B2AA0}" type="datetimeFigureOut">
              <a:rPr lang="ko-KR" altLang="en-US" smtClean="0"/>
              <a:t>2022-11-11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54E696-6290-DB56-C9B6-47EA5E836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C9D756-F917-73A4-BA9B-BAC39F5A2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2907-A4B5-4ADF-A51D-5CC86B5F51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405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260B55-838A-B512-10C6-2C841374B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169F8A-7A3E-BB32-F23B-C1143E5D8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BBA00B-944F-CA83-7899-6CC2FFA76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50D53B5-7636-4FF8-2521-D19DD3A109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C70DD4C-32FE-9A52-047F-3AEEEC03E6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C86DE38-75FE-DA3D-B9DA-155F0BC50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F2B81-760E-4739-A5B8-BCB2EA2B2AA0}" type="datetimeFigureOut">
              <a:rPr lang="ko-KR" altLang="en-US" smtClean="0"/>
              <a:t>2022-11-11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19DAC04-B562-85FC-02D9-1CBAB8E9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0DD579B-09CE-ECC9-F987-A61883114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2907-A4B5-4ADF-A51D-5CC86B5F51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230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58D9A1-D43D-619F-42EE-446FC80BD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48B949D-12F9-3674-46E6-539FFF1A9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F2B81-760E-4739-A5B8-BCB2EA2B2AA0}" type="datetimeFigureOut">
              <a:rPr lang="ko-KR" altLang="en-US" smtClean="0"/>
              <a:t>2022-11-11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D43718E-8421-D8D8-81FD-25AF3C924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D5DE67-65DD-EC3F-C96C-D68F1DE6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2907-A4B5-4ADF-A51D-5CC86B5F51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39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65F5CEE-DD32-6E10-1E24-5AA5B6140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F2B81-760E-4739-A5B8-BCB2EA2B2AA0}" type="datetimeFigureOut">
              <a:rPr lang="ko-KR" altLang="en-US" smtClean="0"/>
              <a:t>2022-11-11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DEB0FDC-9F59-DDCA-7846-44BC8477B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3D9D6B-A3D9-137E-47FA-E4CE5DCB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2907-A4B5-4ADF-A51D-5CC86B5F51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105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548F77-8361-55CE-61ED-6056F0428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524511-D8C1-37B0-3F0F-D689A44BD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AA3671-9CE4-EBA8-C226-914DB0744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CD140A-B58B-0FCC-F586-3652EE0FE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F2B81-760E-4739-A5B8-BCB2EA2B2AA0}" type="datetimeFigureOut">
              <a:rPr lang="ko-KR" altLang="en-US" smtClean="0"/>
              <a:t>2022-11-11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F38150-04C0-F84A-938B-A884A6720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DFEC93-E163-926C-7FEC-291CE50B8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2907-A4B5-4ADF-A51D-5CC86B5F51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4006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739FD3-343F-5DC8-A52B-4A681AD79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F0F8FB4-E929-05A1-A1E1-64B5D2DF9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4A0163-7C8D-01BD-7B6D-EF24CB799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90A6AD-3AF6-182A-017B-65A1EDA0F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F2B81-760E-4739-A5B8-BCB2EA2B2AA0}" type="datetimeFigureOut">
              <a:rPr lang="ko-KR" altLang="en-US" smtClean="0"/>
              <a:t>2022-11-11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6391C8-9BDA-CCC3-F8BA-6A2612452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287D46-2D35-599B-5E6F-87985006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2907-A4B5-4ADF-A51D-5CC86B5F51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284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EF302E-33CA-5384-CB7B-9955AB54A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69C0F8-A877-BA4B-AACA-A532462C4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0969BD-5510-D9B9-AD08-0109E31A6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F2B81-760E-4739-A5B8-BCB2EA2B2AA0}" type="datetimeFigureOut">
              <a:rPr lang="ko-KR" altLang="en-US" smtClean="0"/>
              <a:t>2022-11-11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D59365-3A6C-DD2B-4258-DAB21DB7F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EDF08D-070D-E7BB-ACE9-DEAB8833E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2907-A4B5-4ADF-A51D-5CC86B5F51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805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18C258E-91F6-49D4-395A-52934DA63D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166CDE-8AC5-F526-83C5-48DAE7D50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B38376-2CCA-B25E-81C0-97AA14E18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F2B81-760E-4739-A5B8-BCB2EA2B2AA0}" type="datetimeFigureOut">
              <a:rPr lang="ko-KR" altLang="en-US" smtClean="0"/>
              <a:t>2022-11-11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5280D7-2AB6-C935-EB7F-4F85EC91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83E976-A33C-7CDA-4DD0-DA490737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2907-A4B5-4ADF-A51D-5CC86B5F51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5003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07F4170-5B7E-99F0-97FE-AEAB02251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67C3C8-7E75-881D-8C8A-F8EA9D73A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BCAB33-B313-8518-C95F-BD91AFBF2E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F2B81-760E-4739-A5B8-BCB2EA2B2AA0}" type="datetimeFigureOut">
              <a:rPr lang="ko-KR" altLang="en-US" smtClean="0"/>
              <a:t>2022-11-11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B38F63-434D-C1BF-2A39-6AB8063B94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260796-1CB7-DD8C-CAB8-CCE941E3D2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A2907-A4B5-4ADF-A51D-5CC86B5F51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99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CD6810-6654-D82F-4CB7-798E3260CF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코드설명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2031A9-C260-3E91-9360-24D6F04111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 err="1">
                <a:solidFill>
                  <a:srgbClr val="FF0000"/>
                </a:solidFill>
              </a:rPr>
              <a:t>루빅스</a:t>
            </a:r>
            <a:r>
              <a:rPr lang="ko-KR" altLang="en-US" dirty="0">
                <a:solidFill>
                  <a:srgbClr val="FF0000"/>
                </a:solidFill>
              </a:rPr>
              <a:t> 큐브</a:t>
            </a:r>
            <a:r>
              <a:rPr lang="ko-KR" altLang="en-US" dirty="0"/>
              <a:t>를 활용한 암호화 방식</a:t>
            </a:r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2694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8530F-AC4F-1794-C6F5-54A63B50B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무엇이 달라졌나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28C900-C80A-01C6-E214-4C5BC2E1D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</a:t>
            </a:r>
            <a:r>
              <a:rPr lang="en-US" altLang="ko-KR" dirty="0"/>
              <a:t>: XOR</a:t>
            </a:r>
            <a:r>
              <a:rPr lang="ko-KR" altLang="en-US" dirty="0"/>
              <a:t>연산자</a:t>
            </a:r>
            <a:r>
              <a:rPr lang="ko-KR" altLang="en-US" dirty="0">
                <a:sym typeface="Wingdings" panose="05000000000000000000" pitchFamily="2" charset="2"/>
              </a:rPr>
              <a:t>활용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큐브의 움직임 및 픽셀의 위치 </a:t>
            </a:r>
            <a:r>
              <a:rPr lang="ko-KR" altLang="en-US" dirty="0" err="1">
                <a:sym typeface="Wingdings" panose="05000000000000000000" pitchFamily="2" charset="2"/>
              </a:rPr>
              <a:t>정해짐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후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연구</a:t>
            </a:r>
            <a:r>
              <a:rPr lang="en-US" altLang="ko-KR" dirty="0">
                <a:sym typeface="Wingdings" panose="05000000000000000000" pitchFamily="2" charset="2"/>
              </a:rPr>
              <a:t>): </a:t>
            </a:r>
            <a:r>
              <a:rPr lang="ko-KR" altLang="en-US" dirty="0">
                <a:sym typeface="Wingdings" panose="05000000000000000000" pitchFamily="2" charset="2"/>
              </a:rPr>
              <a:t>사용자에게 </a:t>
            </a:r>
            <a:r>
              <a:rPr lang="en-US" altLang="ko-KR" dirty="0">
                <a:sym typeface="Wingdings" panose="05000000000000000000" pitchFamily="2" charset="2"/>
              </a:rPr>
              <a:t>key space</a:t>
            </a:r>
            <a:r>
              <a:rPr lang="ko-KR" altLang="en-US" dirty="0">
                <a:sym typeface="Wingdings" panose="05000000000000000000" pitchFamily="2" charset="2"/>
              </a:rPr>
              <a:t>값을 </a:t>
            </a:r>
            <a:r>
              <a:rPr lang="ko-KR" altLang="en-US" dirty="0" err="1">
                <a:sym typeface="Wingdings" panose="05000000000000000000" pitchFamily="2" charset="2"/>
              </a:rPr>
              <a:t>입력받음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랜덤으로 큐브의 움직임 배열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04243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5A19D5-EFFD-B6D3-50F2-D6E39655B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43B467-6930-4AE2-807D-487D3052F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해상도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1920*1080</a:t>
            </a:r>
          </a:p>
          <a:p>
            <a:r>
              <a:rPr lang="en-US" altLang="ko-KR" dirty="0"/>
              <a:t>Grayscale </a:t>
            </a:r>
            <a:r>
              <a:rPr lang="ko-KR" altLang="en-US" dirty="0"/>
              <a:t>이미지</a:t>
            </a:r>
            <a:endParaRPr lang="en-US" altLang="ko-KR" dirty="0"/>
          </a:p>
          <a:p>
            <a:r>
              <a:rPr lang="en-US" altLang="ko-KR" dirty="0"/>
              <a:t>Bmp </a:t>
            </a:r>
            <a:r>
              <a:rPr lang="ko-KR" altLang="en-US" dirty="0"/>
              <a:t>파일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그림 3" descr="Understanding Dynamic Range in Imaging Systems - Technical Articles">
            <a:extLst>
              <a:ext uri="{FF2B5EF4-FFF2-40B4-BE49-F238E27FC236}">
                <a16:creationId xmlns:a16="http://schemas.microsoft.com/office/drawing/2014/main" id="{D5D1C948-749E-FE9C-4A7F-1E32773DA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935065"/>
            <a:ext cx="9234714" cy="25578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82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55D4C9-392F-ED01-EEA1-D6B1E0738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과정 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5EEB5C-8A25-0047-85D7-69298502F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Encryption)</a:t>
            </a:r>
          </a:p>
          <a:p>
            <a:pPr marL="0" indent="0">
              <a:buNone/>
            </a:pPr>
            <a:r>
              <a:rPr lang="ko-KR" altLang="en-US" dirty="0"/>
              <a:t>원본 이미지 파일 읽어오기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 err="1">
                <a:sym typeface="Wingdings" panose="05000000000000000000" pitchFamily="2" charset="2"/>
              </a:rPr>
              <a:t>넘파이</a:t>
            </a:r>
            <a:r>
              <a:rPr lang="ko-KR" altLang="en-US" dirty="0">
                <a:sym typeface="Wingdings" panose="05000000000000000000" pitchFamily="2" charset="2"/>
              </a:rPr>
              <a:t> 배열로 변환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모든 행과 열의 명도 값</a:t>
            </a:r>
            <a:r>
              <a:rPr lang="en-US" altLang="ko-KR" dirty="0">
                <a:sym typeface="Wingdings" panose="05000000000000000000" pitchFamily="2" charset="2"/>
              </a:rPr>
              <a:t>(0~255)</a:t>
            </a:r>
            <a:r>
              <a:rPr lang="ko-KR" altLang="en-US" dirty="0">
                <a:sym typeface="Wingdings" panose="05000000000000000000" pitchFamily="2" charset="2"/>
              </a:rPr>
              <a:t>을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차원 리스트로 넣어주기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리스트 </a:t>
            </a:r>
            <a:r>
              <a:rPr lang="en-US" altLang="ko-KR" dirty="0">
                <a:sym typeface="Wingdings" panose="05000000000000000000" pitchFamily="2" charset="2"/>
              </a:rPr>
              <a:t>a)</a:t>
            </a:r>
            <a:r>
              <a:rPr lang="ko-KR" altLang="en-US" dirty="0">
                <a:sym typeface="Wingdings" panose="05000000000000000000" pitchFamily="2" charset="2"/>
              </a:rPr>
              <a:t>암호화 키에 따라 리스트를 섞어주는 함수에 리스트 </a:t>
            </a:r>
            <a:r>
              <a:rPr lang="en-US" altLang="ko-KR" dirty="0">
                <a:sym typeface="Wingdings" panose="05000000000000000000" pitchFamily="2" charset="2"/>
              </a:rPr>
              <a:t>a </a:t>
            </a:r>
            <a:r>
              <a:rPr lang="ko-KR" altLang="en-US" dirty="0">
                <a:sym typeface="Wingdings" panose="05000000000000000000" pitchFamily="2" charset="2"/>
              </a:rPr>
              <a:t>대입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섞여진 리스트 </a:t>
            </a:r>
            <a:r>
              <a:rPr lang="en-US" altLang="ko-KR" dirty="0">
                <a:sym typeface="Wingdings" panose="05000000000000000000" pitchFamily="2" charset="2"/>
              </a:rPr>
              <a:t>a’</a:t>
            </a:r>
            <a:r>
              <a:rPr lang="ko-KR" altLang="en-US" dirty="0">
                <a:sym typeface="Wingdings" panose="05000000000000000000" pitchFamily="2" charset="2"/>
              </a:rPr>
              <a:t>을 이미지로 변환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Decryption)</a:t>
            </a:r>
          </a:p>
          <a:p>
            <a:pPr marL="0" indent="0">
              <a:buNone/>
            </a:pPr>
            <a:r>
              <a:rPr lang="ko-KR" altLang="en-US" dirty="0">
                <a:sym typeface="Wingdings" panose="05000000000000000000" pitchFamily="2" charset="2"/>
              </a:rPr>
              <a:t>암호화 키 역순출력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암호화된 이미지 파일 읽어오기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 err="1">
                <a:sym typeface="Wingdings" panose="05000000000000000000" pitchFamily="2" charset="2"/>
              </a:rPr>
              <a:t>넘파이</a:t>
            </a:r>
            <a:r>
              <a:rPr lang="ko-KR" altLang="en-US" dirty="0">
                <a:sym typeface="Wingdings" panose="05000000000000000000" pitchFamily="2" charset="2"/>
              </a:rPr>
              <a:t> 배열로 변환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모든 행과 열의 </a:t>
            </a:r>
            <a:r>
              <a:rPr lang="ko-KR" altLang="en-US" dirty="0" err="1">
                <a:sym typeface="Wingdings" panose="05000000000000000000" pitchFamily="2" charset="2"/>
              </a:rPr>
              <a:t>명도값을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차원 리스트로 변환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리스트 </a:t>
            </a:r>
            <a:r>
              <a:rPr lang="en-US" altLang="ko-KR" dirty="0">
                <a:sym typeface="Wingdings" panose="05000000000000000000" pitchFamily="2" charset="2"/>
              </a:rPr>
              <a:t>a’)</a:t>
            </a:r>
            <a:r>
              <a:rPr lang="ko-KR" altLang="en-US" dirty="0">
                <a:sym typeface="Wingdings" panose="05000000000000000000" pitchFamily="2" charset="2"/>
              </a:rPr>
              <a:t>섞을 때와 픽셀의 위치를 반대로 돌려주는 함수에 리스트 </a:t>
            </a:r>
            <a:r>
              <a:rPr lang="en-US" altLang="ko-KR" dirty="0">
                <a:sym typeface="Wingdings" panose="05000000000000000000" pitchFamily="2" charset="2"/>
              </a:rPr>
              <a:t>a’</a:t>
            </a:r>
            <a:r>
              <a:rPr lang="ko-KR" altLang="en-US" dirty="0">
                <a:sym typeface="Wingdings" panose="05000000000000000000" pitchFamily="2" charset="2"/>
              </a:rPr>
              <a:t> 대입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 err="1">
                <a:sym typeface="Wingdings" panose="05000000000000000000" pitchFamily="2" charset="2"/>
              </a:rPr>
              <a:t>복호화된</a:t>
            </a:r>
            <a:r>
              <a:rPr lang="ko-KR" altLang="en-US" dirty="0">
                <a:sym typeface="Wingdings" panose="05000000000000000000" pitchFamily="2" charset="2"/>
              </a:rPr>
              <a:t> 리스트를 이미지로 변환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00043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3C760F-B657-C035-DEEF-BB8130372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암호화 키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E06526-FA9C-7106-4B02-B2E15D8ED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8940800" cy="4841875"/>
          </a:xfrm>
        </p:spPr>
        <p:txBody>
          <a:bodyPr>
            <a:normAutofit fontScale="40000" lnSpcReduction="20000"/>
          </a:bodyPr>
          <a:lstStyle/>
          <a:p>
            <a:b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사용자가 입력한 암호화 키 길이수를 갖춘 랜덤 키 생성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routine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암호화 키 길이를 </a:t>
            </a:r>
            <a:r>
              <a:rPr lang="ko-KR" alt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입력하시오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random_key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[]</a:t>
            </a:r>
          </a:p>
          <a:p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random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routine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randrange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random_key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random_key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random_key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random_key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random_key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random_key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3582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EA13E2-0973-0130-33ED-533278EF3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픽셀 섞어주는 함수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401606-26E8-C163-C46A-2A52C6D61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011" y="1601035"/>
            <a:ext cx="10515600" cy="5032375"/>
          </a:xfrm>
        </p:spPr>
        <p:txBody>
          <a:bodyPr>
            <a:noAutofit/>
          </a:bodyPr>
          <a:lstStyle/>
          <a:p>
            <a:r>
              <a:rPr lang="en-US" altLang="ko-KR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scramble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random_key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</a:t>
            </a:r>
            <a:endParaRPr lang="en-US" altLang="ko-KR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list2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</a:t>
            </a:r>
            <a:endParaRPr lang="en-US" altLang="ko-KR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routine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'F'</a:t>
            </a:r>
            <a:endParaRPr lang="en-US" altLang="ko-KR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'B'</a:t>
            </a:r>
            <a:endParaRPr lang="en-US" altLang="ko-KR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'U'</a:t>
            </a:r>
            <a:endParaRPr lang="en-US" altLang="ko-KR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'D'</a:t>
            </a:r>
            <a:endParaRPr lang="en-US" altLang="ko-KR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'R'</a:t>
            </a:r>
            <a:endParaRPr lang="en-US" altLang="ko-KR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'L'</a:t>
            </a:r>
          </a:p>
          <a:p>
            <a:b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random_key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list2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list2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27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list2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list2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33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list2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36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39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33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27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list2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list2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list2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36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39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list2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list2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list2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23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list2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list2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27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23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list2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list2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list2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list1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27</a:t>
            </a:r>
            <a:r>
              <a:rPr lang="en-US" altLang="ko-K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22673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39EEF5-CA81-90C9-A05D-ECCC0F217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NPCR</a:t>
            </a:r>
            <a:r>
              <a:rPr lang="ko-KR" altLang="en-US" dirty="0"/>
              <a:t>과 </a:t>
            </a:r>
            <a:r>
              <a:rPr lang="en-US" altLang="ko-KR" dirty="0"/>
              <a:t>UACI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83A49394-AB5A-5304-8BEE-0EFCB1057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647" y="2038351"/>
            <a:ext cx="9237795" cy="42158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4320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0C9306-2FB5-AD8C-A194-B986C8699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NPCR</a:t>
            </a:r>
            <a:r>
              <a:rPr lang="ko-KR" altLang="en-US" dirty="0"/>
              <a:t>과 </a:t>
            </a:r>
            <a:r>
              <a:rPr lang="en-US" altLang="ko-KR" dirty="0"/>
              <a:t>UACI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5604FB-7ADF-B478-FD26-2B1BED121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>
                <a:latin typeface="Consolas" panose="020B0609020204030204" pitchFamily="49" charset="0"/>
              </a:rPr>
              <a:t>NPCR</a:t>
            </a:r>
            <a:r>
              <a:rPr lang="ko-KR" altLang="en-US" sz="1800" dirty="0">
                <a:latin typeface="Consolas" panose="020B0609020204030204" pitchFamily="49" charset="0"/>
              </a:rPr>
              <a:t>은 </a:t>
            </a:r>
            <a:r>
              <a:rPr lang="en-US" altLang="ko-KR" sz="1800" dirty="0">
                <a:latin typeface="Consolas" panose="020B0609020204030204" pitchFamily="49" charset="0"/>
              </a:rPr>
              <a:t>100</a:t>
            </a:r>
            <a:r>
              <a:rPr lang="ko-KR" altLang="en-US" sz="1800" dirty="0">
                <a:latin typeface="Consolas" panose="020B0609020204030204" pitchFamily="49" charset="0"/>
              </a:rPr>
              <a:t>에 가까울수록</a:t>
            </a:r>
            <a:r>
              <a:rPr lang="en-US" altLang="ko-KR" sz="1800" dirty="0">
                <a:latin typeface="Consolas" panose="020B0609020204030204" pitchFamily="49" charset="0"/>
              </a:rPr>
              <a:t>, UACI</a:t>
            </a:r>
            <a:r>
              <a:rPr lang="ko-KR" altLang="en-US" sz="1800" dirty="0">
                <a:latin typeface="Consolas" panose="020B0609020204030204" pitchFamily="49" charset="0"/>
              </a:rPr>
              <a:t>는 </a:t>
            </a:r>
            <a:r>
              <a:rPr lang="en-US" altLang="ko-KR" sz="1800" dirty="0">
                <a:latin typeface="Consolas" panose="020B0609020204030204" pitchFamily="49" charset="0"/>
              </a:rPr>
              <a:t>33</a:t>
            </a:r>
            <a:r>
              <a:rPr lang="ko-KR" altLang="en-US" sz="1800" dirty="0">
                <a:latin typeface="Consolas" panose="020B0609020204030204" pitchFamily="49" charset="0"/>
              </a:rPr>
              <a:t>에 가까울수록 암호화의 복잡도 상승</a:t>
            </a:r>
            <a:endParaRPr lang="en-US" altLang="ko-KR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sz="1800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#B</a:t>
            </a:r>
            <a:r>
              <a:rPr lang="ko-KR" altLang="en-US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는 암호화전 이미지 </a:t>
            </a:r>
            <a:r>
              <a:rPr lang="ko-KR" altLang="en-US" sz="18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픽셀값을</a:t>
            </a:r>
            <a:r>
              <a:rPr lang="ko-KR" altLang="en-US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담은 리스트</a:t>
            </a:r>
            <a:endParaRPr lang="ko-KR" alt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oldlist</a:t>
            </a:r>
            <a:endParaRPr lang="ko-KR" alt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finall</a:t>
            </a:r>
            <a:r>
              <a:rPr lang="en-US" altLang="ko-KR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=[]</a:t>
            </a:r>
          </a:p>
          <a:p>
            <a:br>
              <a:rPr lang="en-US" altLang="ko-KR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ko-KR" alt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ko-KR" alt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newlist</a:t>
            </a:r>
            <a:r>
              <a:rPr lang="en-US" altLang="ko-KR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finall</a:t>
            </a:r>
            <a:r>
              <a:rPr lang="en-US" altLang="ko-KR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#A</a:t>
            </a:r>
            <a:r>
              <a:rPr lang="ko-KR" altLang="en-US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는 암호화 후 이미지 </a:t>
            </a:r>
            <a:r>
              <a:rPr lang="ko-KR" altLang="en-US" sz="18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픽셀값을</a:t>
            </a:r>
            <a:r>
              <a:rPr lang="ko-KR" altLang="en-US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담은 리스트</a:t>
            </a:r>
            <a:endParaRPr lang="ko-KR" alt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finall</a:t>
            </a:r>
            <a:endParaRPr lang="ko-KR" alt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829466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206B3-71BC-AD2E-B599-6E9E147C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NPCR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49C128-5D50-02EA-4F95-D309A27D2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#NPCR </a:t>
            </a:r>
            <a:r>
              <a:rPr lang="ko-KR" alt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공식 표현</a:t>
            </a:r>
            <a:endParaRPr lang="ko-KR" alt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)):</a:t>
            </a:r>
          </a:p>
          <a:p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!= </a:t>
            </a:r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NPCR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)/(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1920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1080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#NPCR</a:t>
            </a:r>
            <a:r>
              <a:rPr lang="ko-KR" alt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값 출력</a:t>
            </a:r>
            <a:endParaRPr lang="ko-KR" alt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'NPCR ='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NPCR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altLang="ko-K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09749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927019-3923-B4F4-8601-3D9B129D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UACI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32FF5A-199E-231A-D819-F6CFA6748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#UACI </a:t>
            </a:r>
            <a:r>
              <a:rPr lang="ko-KR" alt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공식 표현</a:t>
            </a:r>
            <a:endParaRPr lang="ko-KR" alt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)):</a:t>
            </a:r>
          </a:p>
          <a:p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])-</a:t>
            </a:r>
            <a:r>
              <a:rPr lang="en-US" altLang="ko-KR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 &gt;= 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en-US" altLang="ko-KR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])-</a:t>
            </a:r>
            <a:r>
              <a:rPr lang="en-US" altLang="ko-KR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]))</a:t>
            </a:r>
          </a:p>
          <a:p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])-</a:t>
            </a:r>
            <a:r>
              <a:rPr lang="en-US" altLang="ko-KR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 &lt; 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 (</a:t>
            </a:r>
            <a:r>
              <a:rPr lang="en-US" altLang="ko-KR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])-</a:t>
            </a:r>
            <a:r>
              <a:rPr lang="en-US" altLang="ko-KR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]))</a:t>
            </a:r>
          </a:p>
          <a:p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UACI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)/(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1920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1080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#UACI </a:t>
            </a:r>
            <a:r>
              <a:rPr lang="ko-KR" alt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값 출력</a:t>
            </a:r>
            <a:endParaRPr lang="ko-KR" alt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'UACI = '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UACI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60902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CC5AAA-2C29-BED6-9032-0E893A174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원본 이미지</a:t>
            </a:r>
          </a:p>
        </p:txBody>
      </p:sp>
      <p:pic>
        <p:nvPicPr>
          <p:cNvPr id="5" name="내용 개체 틀 4" descr="하늘, 실외, 여행이(가) 표시된 사진&#10;&#10;자동 생성된 설명">
            <a:extLst>
              <a:ext uri="{FF2B5EF4-FFF2-40B4-BE49-F238E27FC236}">
                <a16:creationId xmlns:a16="http://schemas.microsoft.com/office/drawing/2014/main" id="{173B5751-19BA-530D-38C0-4D24A17703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1077871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CD6810-6654-D82F-4CB7-798E3260CF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코드시연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2031A9-C260-3E91-9360-24D6F04111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 err="1">
                <a:solidFill>
                  <a:srgbClr val="FF0000"/>
                </a:solidFill>
              </a:rPr>
              <a:t>루빅스</a:t>
            </a:r>
            <a:r>
              <a:rPr lang="ko-KR" altLang="en-US" dirty="0">
                <a:solidFill>
                  <a:srgbClr val="FF0000"/>
                </a:solidFill>
              </a:rPr>
              <a:t> 큐브</a:t>
            </a:r>
            <a:r>
              <a:rPr lang="ko-KR" altLang="en-US" dirty="0"/>
              <a:t>를 활용한 암호화 방식</a:t>
            </a:r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6772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CD6810-6654-D82F-4CB7-798E3260CF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코드설명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2031A9-C260-3E91-9360-24D6F04111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>
                <a:solidFill>
                  <a:srgbClr val="FF0000"/>
                </a:solidFill>
              </a:rPr>
              <a:t>카오스 이론</a:t>
            </a:r>
            <a:r>
              <a:rPr lang="ko-KR" altLang="en-US" dirty="0"/>
              <a:t>을 활용한 암호화 방식</a:t>
            </a:r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8999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AC901-AB0D-E212-F776-D21D8302C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과정요약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ABD568-550E-43E8-DB6F-FAC49A706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Encryption)</a:t>
            </a:r>
          </a:p>
          <a:p>
            <a:pPr marL="0" indent="0">
              <a:buNone/>
            </a:pPr>
            <a:r>
              <a:rPr lang="ko-KR" altLang="en-US" dirty="0"/>
              <a:t>원본 이미지 파일 읽어오기</a:t>
            </a:r>
            <a:r>
              <a:rPr lang="en-US" altLang="ko-KR" dirty="0">
                <a:sym typeface="Wingdings" panose="05000000000000000000" pitchFamily="2" charset="2"/>
              </a:rPr>
              <a:t>1</a:t>
            </a:r>
            <a:r>
              <a:rPr lang="ko-KR" altLang="en-US" dirty="0">
                <a:sym typeface="Wingdings" panose="05000000000000000000" pitchFamily="2" charset="2"/>
              </a:rPr>
              <a:t>차원 리스트에 모든 명도 값 넣기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로지스틱 방정식에 </a:t>
            </a:r>
            <a:r>
              <a:rPr lang="en-US" altLang="ko-KR" dirty="0" err="1">
                <a:sym typeface="Wingdings" panose="05000000000000000000" pitchFamily="2" charset="2"/>
              </a:rPr>
              <a:t>x,r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값 넣어서 </a:t>
            </a:r>
            <a:r>
              <a:rPr lang="en-US" altLang="ko-KR" dirty="0">
                <a:sym typeface="Wingdings" panose="05000000000000000000" pitchFamily="2" charset="2"/>
              </a:rPr>
              <a:t>key </a:t>
            </a:r>
            <a:r>
              <a:rPr lang="ko-KR" altLang="en-US" dirty="0">
                <a:sym typeface="Wingdings" panose="05000000000000000000" pitchFamily="2" charset="2"/>
              </a:rPr>
              <a:t>값 생성</a:t>
            </a:r>
            <a:r>
              <a:rPr lang="en-US" altLang="ko-KR" dirty="0">
                <a:sym typeface="Wingdings" panose="05000000000000000000" pitchFamily="2" charset="2"/>
              </a:rPr>
              <a:t>key</a:t>
            </a:r>
            <a:r>
              <a:rPr lang="ko-KR" altLang="en-US" dirty="0">
                <a:sym typeface="Wingdings" panose="05000000000000000000" pitchFamily="2" charset="2"/>
              </a:rPr>
              <a:t>값을 모든 픽셀의 명도에 곱한 후 </a:t>
            </a:r>
            <a:r>
              <a:rPr lang="en-US" altLang="ko-KR" dirty="0">
                <a:sym typeface="Wingdings" panose="05000000000000000000" pitchFamily="2" charset="2"/>
              </a:rPr>
              <a:t>255</a:t>
            </a:r>
            <a:r>
              <a:rPr lang="ko-KR" altLang="en-US" dirty="0">
                <a:sym typeface="Wingdings" panose="05000000000000000000" pitchFamily="2" charset="2"/>
              </a:rPr>
              <a:t>로 나누기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암호화된 이미지 프린트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Decryption)</a:t>
            </a:r>
          </a:p>
          <a:p>
            <a:pPr marL="0" indent="0">
              <a:buNone/>
            </a:pPr>
            <a:r>
              <a:rPr lang="ko-KR" altLang="en-US" dirty="0">
                <a:sym typeface="Wingdings" panose="05000000000000000000" pitchFamily="2" charset="2"/>
              </a:rPr>
              <a:t>기존과정을 거꾸로 한 과정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8262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3F5A9-C050-3BD5-9CD5-9E57D3998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로지스틱 방정식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FF8791-B28A-FCBB-EEAF-7DFA6EE5C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keygen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=[]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*(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#logistic map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pow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))%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342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2B2B9E-6001-84B2-3640-B96D8344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Key</a:t>
            </a:r>
            <a:r>
              <a:rPr lang="ko-KR" altLang="en-US" dirty="0"/>
              <a:t> 생성 및 대입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36A54D-7CA5-66C2-326F-453A5C6B6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0424"/>
            <a:ext cx="10515600" cy="3636712"/>
          </a:xfrm>
        </p:spPr>
        <p:txBody>
          <a:bodyPr>
            <a:normAutofit/>
          </a:bodyPr>
          <a:lstStyle/>
          <a:p>
            <a:r>
              <a:rPr lang="en-US" altLang="ko-KR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ko-KR" alt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카오스 키 생성</a:t>
            </a:r>
            <a:r>
              <a:rPr lang="en-US" altLang="ko-KR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--&gt; </a:t>
            </a:r>
            <a:r>
              <a:rPr lang="ko-KR" alt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여기서 </a:t>
            </a:r>
            <a:r>
              <a:rPr lang="en-US" altLang="ko-KR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0.01, 3.95</a:t>
            </a:r>
            <a:r>
              <a:rPr lang="ko-KR" alt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는 임의의 값</a:t>
            </a:r>
            <a:endParaRPr lang="ko-KR" alt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kg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0.01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3.95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ko-KR" alt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ko-KR" alt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카오스 키를 이용한 이미지 암호화</a:t>
            </a:r>
            <a:r>
              <a:rPr lang="en-US" altLang="ko-KR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en-US" altLang="ko-KR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newlist</a:t>
            </a:r>
            <a:r>
              <a:rPr lang="ko-KR" alt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에 섞인 값 저장</a:t>
            </a:r>
            <a:endParaRPr lang="ko-KR" alt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ko-KR" alt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ko-KR" alt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ko-KR" alt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1920</a:t>
            </a:r>
            <a:r>
              <a:rPr lang="ko-KR" alt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1080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newlist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]=(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oldlist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]*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])/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255</a:t>
            </a:r>
            <a:endParaRPr lang="ko-KR" alt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ko-KR" alt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ko-KR" alt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331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CD6810-6654-D82F-4CB7-798E3260CF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코드시연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2031A9-C260-3E91-9360-24D6F04111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>
                <a:solidFill>
                  <a:srgbClr val="FF0000"/>
                </a:solidFill>
              </a:rPr>
              <a:t>카오스 이론</a:t>
            </a:r>
            <a:r>
              <a:rPr lang="ko-KR" altLang="en-US" dirty="0"/>
              <a:t>을 활용한 암호화 방식</a:t>
            </a:r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5695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02AF38-D09F-6A6E-3274-C0BFC06F1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결과비교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30E63F6-8A45-BCCC-C1BF-9B09CD55F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16"/>
          <a:stretch/>
        </p:blipFill>
        <p:spPr>
          <a:xfrm>
            <a:off x="742950" y="3021061"/>
            <a:ext cx="3238500" cy="57941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0E389C-3656-6FD5-CA71-B2B679E1BA06}"/>
              </a:ext>
            </a:extLst>
          </p:cNvPr>
          <p:cNvSpPr txBox="1"/>
          <p:nvPr/>
        </p:nvSpPr>
        <p:spPr>
          <a:xfrm>
            <a:off x="742950" y="2169313"/>
            <a:ext cx="116736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루빅스</a:t>
            </a:r>
            <a:r>
              <a:rPr lang="ko-KR" altLang="en-US" dirty="0"/>
              <a:t> 큐브 암호화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*key space=100</a:t>
            </a:r>
          </a:p>
          <a:p>
            <a:r>
              <a:rPr lang="en-US" altLang="ko-KR" dirty="0"/>
              <a:t>					</a:t>
            </a:r>
            <a:r>
              <a:rPr lang="ko-KR" altLang="en-US" dirty="0"/>
              <a:t>큐브를 돌리는 횟수에 비례하여 </a:t>
            </a:r>
            <a:r>
              <a:rPr lang="en-US" altLang="ko-KR" dirty="0"/>
              <a:t>NPCR, UACI</a:t>
            </a:r>
            <a:r>
              <a:rPr lang="ko-KR" altLang="en-US" dirty="0"/>
              <a:t>값 증가</a:t>
            </a:r>
            <a:endParaRPr lang="en-US" altLang="ko-KR" dirty="0"/>
          </a:p>
          <a:p>
            <a:r>
              <a:rPr lang="en-US" altLang="ko-KR" dirty="0"/>
              <a:t>					But 79</a:t>
            </a:r>
            <a:r>
              <a:rPr lang="ko-KR" altLang="en-US" dirty="0"/>
              <a:t>이상으로 잘 올라가지 않음</a:t>
            </a:r>
            <a:r>
              <a:rPr lang="en-US" altLang="ko-KR" dirty="0"/>
              <a:t>(</a:t>
            </a:r>
            <a:r>
              <a:rPr lang="ko-KR" altLang="en-US" dirty="0"/>
              <a:t>한계 존재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카오스 이론 암호화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*</a:t>
            </a:r>
            <a:r>
              <a:rPr lang="ko-KR" altLang="en-US" dirty="0"/>
              <a:t>로지스틱 방정식에서 </a:t>
            </a:r>
            <a:r>
              <a:rPr lang="en-US" altLang="ko-KR" dirty="0"/>
              <a:t>x=0.01, r=3.95</a:t>
            </a:r>
            <a:r>
              <a:rPr lang="ko-KR" altLang="en-US" dirty="0"/>
              <a:t>로 설정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2F24A05-52AA-C524-2B8D-A4DF74452A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86" y="5655507"/>
            <a:ext cx="3417427" cy="61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472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914</Words>
  <Application>Microsoft Office PowerPoint</Application>
  <PresentationFormat>와이드스크린</PresentationFormat>
  <Paragraphs>137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Consolas</vt:lpstr>
      <vt:lpstr>Office 테마</vt:lpstr>
      <vt:lpstr>코드설명</vt:lpstr>
      <vt:lpstr>무엇이 달라졌나</vt:lpstr>
      <vt:lpstr>조건</vt:lpstr>
      <vt:lpstr>과정 요약</vt:lpstr>
      <vt:lpstr>암호화 키 생성</vt:lpstr>
      <vt:lpstr>픽셀 섞어주는 함수 정의</vt:lpstr>
      <vt:lpstr>NPCR과 UACI</vt:lpstr>
      <vt:lpstr>NPCR과 UACI</vt:lpstr>
      <vt:lpstr>NPCR</vt:lpstr>
      <vt:lpstr>UACI</vt:lpstr>
      <vt:lpstr>원본 이미지</vt:lpstr>
      <vt:lpstr>코드시연</vt:lpstr>
      <vt:lpstr>코드설명</vt:lpstr>
      <vt:lpstr>과정요약</vt:lpstr>
      <vt:lpstr>로지스틱 방정식 </vt:lpstr>
      <vt:lpstr>Key 생성 및 대입</vt:lpstr>
      <vt:lpstr>코드시연</vt:lpstr>
      <vt:lpstr>결과비교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코드설명</dc:title>
  <dc:creator>22726</dc:creator>
  <cp:lastModifiedBy>22726</cp:lastModifiedBy>
  <cp:revision>1</cp:revision>
  <dcterms:created xsi:type="dcterms:W3CDTF">2022-11-10T15:58:46Z</dcterms:created>
  <dcterms:modified xsi:type="dcterms:W3CDTF">2022-11-10T17:15:54Z</dcterms:modified>
</cp:coreProperties>
</file>